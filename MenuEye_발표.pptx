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이미지별 평균 OCR 신뢰도 (ocr_summary.csv)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OCR 신뢰도(%)</c:v>
                </c:pt>
              </c:strCache>
            </c:strRef>
          </c:tx>
          <c:spPr>
            <a:solidFill>
              <a:srgbClr val="555B64"/>
            </a:solidFill>
            <a:ln>
              <a:noFill/>
            </a:ln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92.0</c:v>
                </c:pt>
                <c:pt idx="1">
                  <c:v>95.3</c:v>
                </c:pt>
                <c:pt idx="2">
                  <c:v>96.2</c:v>
                </c:pt>
                <c:pt idx="3">
                  <c:v>95.1</c:v>
                </c:pt>
                <c:pt idx="4">
                  <c:v>83.6</c:v>
                </c:pt>
                <c:pt idx="5">
                  <c:v>93.9</c:v>
                </c:pt>
                <c:pt idx="6">
                  <c:v>86.0</c:v>
                </c:pt>
                <c:pt idx="7">
                  <c:v>90.5</c:v>
                </c:pt>
                <c:pt idx="8">
                  <c:v>92.8</c:v>
                </c:pt>
                <c:pt idx="9">
                  <c:v>92.2</c:v>
                </c:pt>
                <c:pt idx="10">
                  <c:v>86.0</c:v>
                </c:pt>
                <c:pt idx="11">
                  <c:v>86.8</c:v>
                </c:pt>
                <c:pt idx="12">
                  <c:v>81.8</c:v>
                </c:pt>
                <c:pt idx="13">
                  <c:v>92.6</c:v>
                </c:pt>
                <c:pt idx="14">
                  <c:v>96.7</c:v>
                </c:pt>
                <c:pt idx="15">
                  <c:v>96.0</c:v>
                </c:pt>
                <c:pt idx="16">
                  <c:v>88.9</c:v>
                </c:pt>
                <c:pt idx="17">
                  <c:v>91.6</c:v>
                </c:pt>
                <c:pt idx="18">
                  <c:v>93.5</c:v>
                </c:pt>
                <c:pt idx="19">
                  <c:v>86.4</c:v>
                </c:pt>
                <c:pt idx="20">
                  <c:v>96.6</c:v>
                </c:pt>
                <c:pt idx="21">
                  <c:v>90.0</c:v>
                </c:pt>
                <c:pt idx="22">
                  <c:v>95.5</c:v>
                </c:pt>
                <c:pt idx="23">
                  <c:v>91.8</c:v>
                </c:pt>
                <c:pt idx="24">
                  <c:v>96.7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5CE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8D5CE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한식 메뉴명 복원율(%) — 25장 실측 (benchmark_clova.csv)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PP-OCRv3 65%</c:v>
                </c:pt>
              </c:strCache>
            </c:strRef>
          </c:tx>
          <c:spPr>
            <a:solidFill>
              <a:srgbClr val="C7CCD2"/>
            </a:solidFill>
            <a:ln>
              <a:noFill/>
            </a:ln>
          </c:spPr>
          <c:cat>
            <c:strRef>
              <c:f>Sheet1!$A$2:$A$27</c:f>
              <c:strCache>
                <c:ptCount val="2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전체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93</c:v>
                </c:pt>
                <c:pt idx="1">
                  <c:v>79</c:v>
                </c:pt>
                <c:pt idx="2">
                  <c:v>100</c:v>
                </c:pt>
                <c:pt idx="3">
                  <c:v>88</c:v>
                </c:pt>
                <c:pt idx="4">
                  <c:v>27</c:v>
                </c:pt>
                <c:pt idx="5">
                  <c:v>50</c:v>
                </c:pt>
                <c:pt idx="6">
                  <c:v>0</c:v>
                </c:pt>
                <c:pt idx="7">
                  <c:v>0</c:v>
                </c:pt>
                <c:pt idx="8">
                  <c:v>15</c:v>
                </c:pt>
                <c:pt idx="9">
                  <c:v>89</c:v>
                </c:pt>
                <c:pt idx="10">
                  <c:v>100</c:v>
                </c:pt>
                <c:pt idx="11">
                  <c:v>20</c:v>
                </c:pt>
                <c:pt idx="12">
                  <c:v>40</c:v>
                </c:pt>
                <c:pt idx="13">
                  <c:v>73</c:v>
                </c:pt>
                <c:pt idx="14">
                  <c:v>60</c:v>
                </c:pt>
                <c:pt idx="15">
                  <c:v>100</c:v>
                </c:pt>
                <c:pt idx="16">
                  <c:v>37</c:v>
                </c:pt>
                <c:pt idx="17">
                  <c:v>0</c:v>
                </c:pt>
                <c:pt idx="18">
                  <c:v>92</c:v>
                </c:pt>
                <c:pt idx="19">
                  <c:v>75</c:v>
                </c:pt>
                <c:pt idx="20">
                  <c:v>100</c:v>
                </c:pt>
                <c:pt idx="21">
                  <c:v>67</c:v>
                </c:pt>
                <c:pt idx="22">
                  <c:v>100</c:v>
                </c:pt>
                <c:pt idx="23">
                  <c:v>69</c:v>
                </c:pt>
                <c:pt idx="24">
                  <c:v>100</c:v>
                </c:pt>
                <c:pt idx="25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PP-OCRv5 84%</c:v>
                </c:pt>
              </c:strCache>
            </c:strRef>
          </c:tx>
          <c:spPr>
            <a:solidFill>
              <a:srgbClr val="E4572E"/>
            </a:solidFill>
            <a:ln>
              <a:noFill/>
            </a:ln>
          </c:spPr>
          <c:cat>
            <c:strRef>
              <c:f>Sheet1!$A$2:$A$27</c:f>
              <c:strCache>
                <c:ptCount val="2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전체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93</c:v>
                </c:pt>
                <c:pt idx="1">
                  <c:v>96</c:v>
                </c:pt>
                <c:pt idx="2">
                  <c:v>100</c:v>
                </c:pt>
                <c:pt idx="3">
                  <c:v>88</c:v>
                </c:pt>
                <c:pt idx="4">
                  <c:v>68</c:v>
                </c:pt>
                <c:pt idx="5">
                  <c:v>100</c:v>
                </c:pt>
                <c:pt idx="6">
                  <c:v>0</c:v>
                </c:pt>
                <c:pt idx="7">
                  <c:v>57</c:v>
                </c:pt>
                <c:pt idx="8">
                  <c:v>69</c:v>
                </c:pt>
                <c:pt idx="9">
                  <c:v>100</c:v>
                </c:pt>
                <c:pt idx="10">
                  <c:v>100</c:v>
                </c:pt>
                <c:pt idx="11">
                  <c:v>0</c:v>
                </c:pt>
                <c:pt idx="12">
                  <c:v>40</c:v>
                </c:pt>
                <c:pt idx="13">
                  <c:v>91</c:v>
                </c:pt>
                <c:pt idx="14">
                  <c:v>90</c:v>
                </c:pt>
                <c:pt idx="15">
                  <c:v>100</c:v>
                </c:pt>
                <c:pt idx="16">
                  <c:v>95</c:v>
                </c:pt>
                <c:pt idx="17">
                  <c:v>100</c:v>
                </c:pt>
                <c:pt idx="18">
                  <c:v>77</c:v>
                </c:pt>
                <c:pt idx="19">
                  <c:v>75</c:v>
                </c:pt>
                <c:pt idx="20">
                  <c:v>100</c:v>
                </c:pt>
                <c:pt idx="21">
                  <c:v>33</c:v>
                </c:pt>
                <c:pt idx="22">
                  <c:v>100</c:v>
                </c:pt>
                <c:pt idx="23">
                  <c:v>94</c:v>
                </c:pt>
                <c:pt idx="24">
                  <c:v>100</c:v>
                </c:pt>
                <c:pt idx="25">
                  <c:v>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CLOVA 87%</c:v>
                </c:pt>
              </c:strCache>
            </c:strRef>
          </c:tx>
          <c:spPr>
            <a:solidFill>
              <a:srgbClr val="6B7280"/>
            </a:solidFill>
            <a:ln>
              <a:noFill/>
            </a:ln>
          </c:spPr>
          <c:cat>
            <c:strRef>
              <c:f>Sheet1!$A$2:$A$27</c:f>
              <c:strCache>
                <c:ptCount val="2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전체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79</c:v>
                </c:pt>
                <c:pt idx="1">
                  <c:v>96</c:v>
                </c:pt>
                <c:pt idx="2">
                  <c:v>92</c:v>
                </c:pt>
                <c:pt idx="3">
                  <c:v>88</c:v>
                </c:pt>
                <c:pt idx="4">
                  <c:v>82</c:v>
                </c:pt>
                <c:pt idx="5">
                  <c:v>100</c:v>
                </c:pt>
                <c:pt idx="6">
                  <c:v>25</c:v>
                </c:pt>
                <c:pt idx="7">
                  <c:v>43</c:v>
                </c:pt>
                <c:pt idx="8">
                  <c:v>92</c:v>
                </c:pt>
                <c:pt idx="9">
                  <c:v>84</c:v>
                </c:pt>
                <c:pt idx="10">
                  <c:v>100</c:v>
                </c:pt>
                <c:pt idx="11">
                  <c:v>0</c:v>
                </c:pt>
                <c:pt idx="12">
                  <c:v>80</c:v>
                </c:pt>
                <c:pt idx="13">
                  <c:v>100</c:v>
                </c:pt>
                <c:pt idx="14">
                  <c:v>90</c:v>
                </c:pt>
                <c:pt idx="15">
                  <c:v>75</c:v>
                </c:pt>
                <c:pt idx="16">
                  <c:v>95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67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87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5CE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0"/>
          <c:min val="0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8D5CE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566928" cy="56692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23317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Calibri"/>
                <a:ea typeface="맑은 고딕"/>
              </a:rPr>
              <a:t>MenuEye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3611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9E6DF"/>
                </a:solidFill>
                <a:latin typeface="Calibri"/>
                <a:ea typeface="맑은 고딕"/>
              </a:rPr>
              <a:t>한식 메뉴판 다국어 해석기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431596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A9ADB4"/>
                </a:solidFill>
                <a:latin typeface="Calibri"/>
                <a:ea typeface="맑은 고딕"/>
              </a:rPr>
              <a:t>OCR(CV) + LLM 으로 방한 외국인의 '메뉴 장벽'을 해결한다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68A92"/>
                </a:solidFill>
                <a:latin typeface="Calibri"/>
                <a:ea typeface="맑은 고딕"/>
              </a:rPr>
              <a:t>메뉴아이 · 정현우 · 이응균 · 정아인   ·   2025 K-Digital Training 헬스케어 5회차   ·   2026. 07.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4572E"/>
                </a:solidFill>
                <a:latin typeface="Calibri"/>
                <a:ea typeface="맑은 고딕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5648" y="1892807"/>
            <a:ext cx="25603" cy="603504"/>
          </a:xfrm>
          <a:prstGeom prst="rect">
            <a:avLst/>
          </a:prstGeom>
          <a:solidFill>
            <a:srgbClr val="DD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783080"/>
            <a:ext cx="4480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550" b="1">
                <a:solidFill>
                  <a:srgbClr val="2A2E35"/>
                </a:solidFill>
                <a:latin typeface="Calibri"/>
                <a:ea typeface="맑은 고딕"/>
              </a:rPr>
              <a:t>주제 선정 &amp; 서비스 개요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문제 · 기술 중심 · 파이프라인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4572E"/>
                </a:solidFill>
                <a:latin typeface="Calibri"/>
                <a:ea typeface="맑은 고딕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5648" y="2990088"/>
            <a:ext cx="25603" cy="603504"/>
          </a:xfrm>
          <a:prstGeom prst="rect">
            <a:avLst/>
          </a:prstGeom>
          <a:solidFill>
            <a:srgbClr val="DD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4480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550" b="1">
                <a:solidFill>
                  <a:srgbClr val="2A2E35"/>
                </a:solidFill>
                <a:latin typeface="Calibri"/>
                <a:ea typeface="맑은 고딕"/>
              </a:rPr>
              <a:t>데이터 수집 &amp; EDA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자체 25장 · 246개 · 신뢰도 분포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4572E"/>
                </a:solidFill>
                <a:latin typeface="Calibri"/>
                <a:ea typeface="맑은 고딕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5648" y="4087368"/>
            <a:ext cx="25603" cy="603504"/>
          </a:xfrm>
          <a:prstGeom prst="rect">
            <a:avLst/>
          </a:prstGeom>
          <a:solidFill>
            <a:srgbClr val="DD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3977639"/>
            <a:ext cx="4480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550" b="1">
                <a:solidFill>
                  <a:srgbClr val="2A2E35"/>
                </a:solidFill>
                <a:latin typeface="Calibri"/>
                <a:ea typeface="맑은 고딕"/>
              </a:rPr>
              <a:t>모델 구현 — 베이스라인 &amp; 핵심 코드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병합 · 파이프라인 · 프롬프트 · 채점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4572E"/>
                </a:solidFill>
                <a:latin typeface="Calibri"/>
                <a:ea typeface="맑은 고딕"/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55648" y="5184648"/>
            <a:ext cx="25603" cy="603504"/>
          </a:xfrm>
          <a:prstGeom prst="rect">
            <a:avLst/>
          </a:prstGeom>
          <a:solidFill>
            <a:srgbClr val="DD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5074920"/>
            <a:ext cx="4480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550" b="1">
                <a:solidFill>
                  <a:srgbClr val="2A2E35"/>
                </a:solidFill>
                <a:latin typeface="Calibri"/>
                <a:ea typeface="맑은 고딕"/>
              </a:rPr>
              <a:t>개선 비교 (v3 · v5 · CLOVA)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복원율 65 → 84 → 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783080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4572E"/>
                </a:solidFill>
                <a:latin typeface="Calibri"/>
                <a:ea typeface="맑은 고딕"/>
              </a:rPr>
              <a:t>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0648" y="1892807"/>
            <a:ext cx="25603" cy="603504"/>
          </a:xfrm>
          <a:prstGeom prst="rect">
            <a:avLst/>
          </a:prstGeom>
          <a:solidFill>
            <a:srgbClr val="DD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1783080"/>
            <a:ext cx="4480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550" b="1">
                <a:solidFill>
                  <a:srgbClr val="2A2E35"/>
                </a:solidFill>
                <a:latin typeface="Calibri"/>
                <a:ea typeface="맑은 고딕"/>
              </a:rPr>
              <a:t>오류 사례 분석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레이어별 유형 · v5 회귀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4572E"/>
                </a:solidFill>
                <a:latin typeface="Calibri"/>
                <a:ea typeface="맑은 고딕"/>
              </a:rP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0648" y="2990088"/>
            <a:ext cx="25603" cy="603504"/>
          </a:xfrm>
          <a:prstGeom prst="rect">
            <a:avLst/>
          </a:prstGeom>
          <a:solidFill>
            <a:srgbClr val="DD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880360"/>
            <a:ext cx="4480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550" b="1">
                <a:solidFill>
                  <a:srgbClr val="2A2E35"/>
                </a:solidFill>
                <a:latin typeface="Calibri"/>
                <a:ea typeface="맑은 고딕"/>
              </a:rPr>
              <a:t>결과 정리 &amp; 시연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채점 궤적 · 웹 데모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39"/>
            <a:ext cx="960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4572E"/>
                </a:solidFill>
                <a:latin typeface="Calibri"/>
                <a:ea typeface="맑은 고딕"/>
              </a:rPr>
              <a:t>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70648" y="4087368"/>
            <a:ext cx="25603" cy="603504"/>
          </a:xfrm>
          <a:prstGeom prst="rect">
            <a:avLst/>
          </a:prstGeom>
          <a:solidFill>
            <a:srgbClr val="DD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977639"/>
            <a:ext cx="4480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550" b="1">
                <a:solidFill>
                  <a:srgbClr val="2A2E35"/>
                </a:solidFill>
                <a:latin typeface="Calibri"/>
                <a:ea typeface="맑은 고딕"/>
              </a:rPr>
              <a:t>한계 &amp; 개선 방향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VLM · 향후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주제 선정 (10)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문제 정의 &amp; 주제 선정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5535" y="658368"/>
            <a:ext cx="3063240" cy="475488"/>
          </a:xfrm>
          <a:prstGeom prst="round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25535" y="658368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72E"/>
                </a:solidFill>
                <a:latin typeface="Calibri"/>
                <a:ea typeface="맑은 고딕"/>
              </a:rPr>
              <a:t>심사 · 주제 선정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E4572E"/>
                </a:solidFill>
                <a:latin typeface="Calibri"/>
                <a:ea typeface="맑은 고딕"/>
              </a:rPr>
              <a:t>문제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2A2E35"/>
                </a:solidFill>
                <a:latin typeface="Calibri"/>
                <a:ea typeface="맑은 고딕"/>
              </a:rPr>
              <a:t>방한 외국인은 한식 메뉴판을 '읽지도, 이해하지도' 못한다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0">
                <a:solidFill>
                  <a:srgbClr val="8A867E"/>
                </a:solidFill>
                <a:latin typeface="Calibri"/>
                <a:ea typeface="맑은 고딕"/>
              </a:rPr>
              <a:t>낯선 한글·요리명, 재료·맵기·알레르기 정보 부재 → K-관광의 실질적 불편.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4572E"/>
                </a:solidFill>
                <a:latin typeface="Calibri"/>
                <a:ea typeface="맑은 고딕"/>
              </a:rPr>
              <a:t>주제 선정 방식 — 기술 중심 (PROJECT.md)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>
                <a:solidFill>
                  <a:srgbClr val="2A2E35"/>
                </a:solidFill>
                <a:latin typeface="Calibri"/>
                <a:ea typeface="맑은 고딕"/>
              </a:rPr>
              <a:t>수업 핵심 기술 CV(OCR) + LLM 을 '어떻게 결합할까'에서 출발.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2A2E35"/>
                </a:solidFill>
                <a:latin typeface="Calibri"/>
                <a:ea typeface="맑은 고딕"/>
              </a:rPr>
              <a:t>보조: 사용자 유형(방한 외국인) 중심.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5349240" cy="27432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4572E"/>
                </a:solidFill>
                <a:latin typeface="Calibri"/>
                <a:ea typeface="맑은 고딕"/>
              </a:rPr>
              <a:t>판단의 흐름 — 방향 전환 (v1 유럽 → v2 한식)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맑은 고딕"/>
              </a:rPr>
              <a:t>v1: 유럽 메뉴판 → 한국어 해석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병목 = 유럽어 OCR(특수문자 é·ü·ß·장식체). 정확도가 안 올랐다.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E4572E"/>
                </a:solidFill>
                <a:latin typeface="Calibri"/>
                <a:ea typeface="맑은 고딕"/>
              </a:rPr>
              <a:t>v2: 한식 메뉴판 → 다국어 해석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입력을 뒤집으니 병목 해소 — 한국어 OCR은 성숙, 한국어라 정답 검증이 쉽다.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A2E35"/>
                </a:solidFill>
                <a:latin typeface="Calibri"/>
                <a:ea typeface="맑은 고딕"/>
              </a:rPr>
              <a:t>파이프라인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700784" cy="1234440"/>
          </a:xfrm>
          <a:prstGeom prst="round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5074920"/>
            <a:ext cx="15179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A2E35"/>
                </a:solidFill>
                <a:latin typeface="Calibri"/>
                <a:ea typeface="맑은 고딕"/>
              </a:rPr>
              <a:t>📷 메뉴판 사진</a:t>
            </a:r>
          </a:p>
        </p:txBody>
      </p:sp>
      <p:sp>
        <p:nvSpPr>
          <p:cNvPr id="14" name="Chevron 13"/>
          <p:cNvSpPr/>
          <p:nvPr/>
        </p:nvSpPr>
        <p:spPr>
          <a:xfrm>
            <a:off x="2313432" y="5349240"/>
            <a:ext cx="201168" cy="310896"/>
          </a:xfrm>
          <a:prstGeom prst="chevron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05456" y="4892040"/>
            <a:ext cx="170078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5074920"/>
            <a:ext cx="15179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① OCR 인식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8A867E"/>
                </a:solidFill>
                <a:latin typeface="Calibri"/>
                <a:ea typeface="맑은 고딕"/>
              </a:rPr>
              <a:t>PP-OCRv5</a:t>
            </a:r>
          </a:p>
        </p:txBody>
      </p:sp>
      <p:sp>
        <p:nvSpPr>
          <p:cNvPr id="17" name="Chevron 16"/>
          <p:cNvSpPr/>
          <p:nvPr/>
        </p:nvSpPr>
        <p:spPr>
          <a:xfrm>
            <a:off x="4178808" y="5349240"/>
            <a:ext cx="201168" cy="310896"/>
          </a:xfrm>
          <a:prstGeom prst="chevron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70832" y="4892040"/>
            <a:ext cx="170078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5074920"/>
            <a:ext cx="15179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② 좌표 후처리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8A867E"/>
                </a:solidFill>
                <a:latin typeface="Calibri"/>
                <a:ea typeface="맑은 고딕"/>
              </a:rPr>
              <a:t>병합·간판제외</a:t>
            </a:r>
          </a:p>
        </p:txBody>
      </p:sp>
      <p:sp>
        <p:nvSpPr>
          <p:cNvPr id="20" name="Chevron 19"/>
          <p:cNvSpPr/>
          <p:nvPr/>
        </p:nvSpPr>
        <p:spPr>
          <a:xfrm>
            <a:off x="6044184" y="5349240"/>
            <a:ext cx="201168" cy="310896"/>
          </a:xfrm>
          <a:prstGeom prst="chevron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6208" y="4892040"/>
            <a:ext cx="170078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5074920"/>
            <a:ext cx="15179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③ 필터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8A867E"/>
                </a:solidFill>
                <a:latin typeface="Calibri"/>
                <a:ea typeface="맑은 고딕"/>
              </a:rPr>
              <a:t>looks_like_name</a:t>
            </a:r>
          </a:p>
        </p:txBody>
      </p:sp>
      <p:sp>
        <p:nvSpPr>
          <p:cNvPr id="23" name="Chevron 22"/>
          <p:cNvSpPr/>
          <p:nvPr/>
        </p:nvSpPr>
        <p:spPr>
          <a:xfrm>
            <a:off x="7909560" y="5349240"/>
            <a:ext cx="201168" cy="310896"/>
          </a:xfrm>
          <a:prstGeom prst="chevron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1583" y="4892040"/>
            <a:ext cx="1700784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3" y="5074920"/>
            <a:ext cx="15179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④ LLM 해석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8A867E"/>
                </a:solidFill>
                <a:latin typeface="Calibri"/>
                <a:ea typeface="맑은 고딕"/>
              </a:rPr>
              <a:t>JSON</a:t>
            </a:r>
          </a:p>
        </p:txBody>
      </p:sp>
      <p:sp>
        <p:nvSpPr>
          <p:cNvPr id="26" name="Chevron 25"/>
          <p:cNvSpPr/>
          <p:nvPr/>
        </p:nvSpPr>
        <p:spPr>
          <a:xfrm>
            <a:off x="9774936" y="5349240"/>
            <a:ext cx="201168" cy="310896"/>
          </a:xfrm>
          <a:prstGeom prst="chevron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66959" y="4892040"/>
            <a:ext cx="1700784" cy="1234440"/>
          </a:xfrm>
          <a:prstGeom prst="round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399" y="5074920"/>
            <a:ext cx="15179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A2E35"/>
                </a:solidFill>
                <a:latin typeface="Calibri"/>
                <a:ea typeface="맑은 고딕"/>
              </a:rPr>
              <a:t>🍽️ 요리별 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데이터 수집 (10)  ·  EDA (10)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데이터 수집 &amp; 탐색적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5535" y="658368"/>
            <a:ext cx="3063240" cy="475488"/>
          </a:xfrm>
          <a:prstGeom prst="round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25535" y="658368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72E"/>
                </a:solidFill>
                <a:latin typeface="Calibri"/>
                <a:ea typeface="맑은 고딕"/>
              </a:rPr>
              <a:t>심사 · 데이터수집 10 · EDA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920240" cy="13716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800" b="1">
                <a:solidFill>
                  <a:srgbClr val="E4572E"/>
                </a:solidFill>
                <a:latin typeface="Calibri"/>
                <a:ea typeface="맑은 고딕"/>
              </a:rPr>
              <a:t>25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맑은 고딕"/>
              </a:rPr>
              <a:t>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39572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C4C8CF"/>
                </a:solidFill>
                <a:latin typeface="Calibri"/>
                <a:ea typeface="맑은 고딕"/>
              </a:rPr>
              <a:t>자체 촬영 메뉴판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417320"/>
            <a:ext cx="1920240" cy="13716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536192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800" b="1">
                <a:solidFill>
                  <a:srgbClr val="23272E"/>
                </a:solidFill>
                <a:latin typeface="Calibri"/>
                <a:ea typeface="맑은 고딕"/>
              </a:rPr>
              <a:t>246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A2E35"/>
                </a:solidFill>
                <a:latin typeface="Calibri"/>
                <a:ea typeface="맑은 고딕"/>
              </a:rPr>
              <a:t>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9572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직접 작성 정답</a:t>
            </a:r>
          </a:p>
        </p:txBody>
      </p:sp>
      <p:pic>
        <p:nvPicPr>
          <p:cNvPr id="13" name="Picture 12" descr="ocr_boxes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71800"/>
            <a:ext cx="1415946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448056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8A867E"/>
                </a:solidFill>
                <a:latin typeface="Calibri"/>
                <a:ea typeface="맑은 고딕"/>
              </a:rPr>
              <a:t>뼈해장국</a:t>
            </a:r>
          </a:p>
        </p:txBody>
      </p:sp>
      <p:pic>
        <p:nvPicPr>
          <p:cNvPr id="15" name="Picture 14" descr="ocr_boxes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2971800"/>
            <a:ext cx="2053389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12848" y="448056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8A867E"/>
                </a:solidFill>
                <a:latin typeface="Calibri"/>
                <a:ea typeface="맑은 고딕"/>
              </a:rPr>
              <a:t>초고밀도 중식</a:t>
            </a:r>
          </a:p>
        </p:txBody>
      </p:sp>
      <p:pic>
        <p:nvPicPr>
          <p:cNvPr id="17" name="Picture 16" descr="ocr_boxes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5" y="2971800"/>
            <a:ext cx="1656007" cy="14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85615" y="4480560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8A867E"/>
                </a:solidFill>
                <a:latin typeface="Calibri"/>
                <a:ea typeface="맑은 고딕"/>
              </a:rPr>
              <a:t>횟집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4572E"/>
                </a:solidFill>
                <a:latin typeface="Calibri"/>
                <a:ea typeface="맑은 고딕"/>
              </a:rPr>
              <a:t>난이도·업종을 의도적으로 다양화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2A2E35"/>
                </a:solidFill>
                <a:latin typeface="Calibri"/>
                <a:ea typeface="맑은 고딕"/>
              </a:rPr>
              <a:t>저해상·초고밀도·다단·세로쓰기·손글씨 포함 → 오류사례 풍부. 정답은 사람이 직접 작성(인식 오류 놓칠 위험 없음). ICDAR(유럽 전용) 미사용.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943600" y="1417320"/>
          <a:ext cx="5577840" cy="3200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1" name="Rectangle 20"/>
          <p:cNvSpPr/>
          <p:nvPr/>
        </p:nvSpPr>
        <p:spPr>
          <a:xfrm>
            <a:off x="5943600" y="4800600"/>
            <a:ext cx="5577840" cy="1508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498348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72E"/>
                </a:solidFill>
                <a:latin typeface="Calibri"/>
                <a:ea typeface="맑은 고딕"/>
              </a:rPr>
              <a:t>인사이트 — 신뢰도는 높다(평균 0.915, 저신뢰 3.4%, 1124줄)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2A2E35"/>
                </a:solidFill>
                <a:latin typeface="Calibri"/>
                <a:ea typeface="맑은 고딕"/>
              </a:rPr>
              <a:t>그러나 신뢰도가 높아도 밀도·레이아웃 때문에 '메뉴 복원'은 별개 → 병목은 인식이 아니라 '구조'.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모델 구현 · 베이스라인 (10)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베이스라인 — PP-OCRv3(한국어)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5535" y="658368"/>
            <a:ext cx="3063240" cy="475488"/>
          </a:xfrm>
          <a:prstGeom prst="round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25535" y="658368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72E"/>
                </a:solidFill>
                <a:latin typeface="Calibri"/>
                <a:ea typeface="맑은 고딕"/>
              </a:rPr>
              <a:t>심사 · 베이스라인 10</a:t>
            </a:r>
          </a:p>
        </p:txBody>
      </p:sp>
      <p:pic>
        <p:nvPicPr>
          <p:cNvPr id="7" name="Picture 6" descr="ocr_boxes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469081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08192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▲ OCR 텍스트 검출 시각화 (ocr_boxes_4.jpg)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463040"/>
            <a:ext cx="6355080" cy="12344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68112" y="1664208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4572E"/>
                </a:solidFill>
                <a:latin typeface="Calibri"/>
                <a:ea typeface="맑은 고딕"/>
              </a:rPr>
              <a:t>인식 베이스라인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A2E35"/>
                </a:solidFill>
                <a:latin typeface="Calibri"/>
                <a:ea typeface="맑은 고딕"/>
              </a:rPr>
              <a:t>PaddleOCR PP-OCRv3 (한국어)  ·  검출 DBNet + 인식 SVTR/CRNN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2880360"/>
            <a:ext cx="6355080" cy="32004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09067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4572E"/>
                </a:solidFill>
                <a:latin typeface="Calibri"/>
                <a:ea typeface="맑은 고딕"/>
              </a:rPr>
              <a:t>문제 진단 — 어디서 왜 틀리나 (WORKLOG.md §6)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61188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맑은 고딕"/>
              </a:rPr>
              <a:t>① 저해상도 붕괴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C4C8CF"/>
                </a:solidFill>
                <a:latin typeface="Calibri"/>
                <a:ea typeface="맑은 고딕"/>
              </a:rPr>
              <a:t>닭칼국수 → 뒤갈국주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23367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맑은 고딕"/>
              </a:rPr>
              <a:t>② 글자 넓은띄움 → 조각 분리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C4C8CF"/>
                </a:solidFill>
                <a:latin typeface="Calibri"/>
                <a:ea typeface="맑은 고딕"/>
              </a:rPr>
              <a:t>공 기 밥 → '공' '기' '밥'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855464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맑은 고딕"/>
              </a:rPr>
              <a:t>③ 세로쓰기·大/中 다단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C4C8CF"/>
                </a:solidFill>
                <a:latin typeface="Calibri"/>
                <a:ea typeface="맑은 고딕"/>
              </a:rPr>
              <a:t>이름과 가격이 멀리 분리됨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477256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맑은 고딕"/>
              </a:rPr>
              <a:t>④ 손글씨 스티커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C4C8CF"/>
                </a:solidFill>
                <a:latin typeface="Calibri"/>
                <a:ea typeface="맑은 고딕"/>
              </a:rPr>
              <a:t>굴무침 추가 → 298500 (실패)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실제 구현 코드 (발췌)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핵심 코드 ① — OCR 조각 병합 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8A867E"/>
                </a:solidFill>
                <a:latin typeface="Calibri"/>
                <a:ea typeface="맑은 고딕"/>
              </a:rPr>
              <a:t>정확도를 올린 핵심 로직 · menu_to_prompt.py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4663440"/>
          </a:xfrm>
          <a:prstGeom prst="roundRect">
            <a:avLst/>
          </a:prstGeom>
          <a:solidFill>
            <a:srgbClr val="1E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83664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4572E"/>
                </a:solidFill>
                <a:latin typeface="Consolas"/>
                <a:ea typeface="맑은 고딕"/>
              </a:rPr>
              <a:t>merge_line_fragments()  —  공/기/밥 → 공기밥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10415015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def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merge_line_fragments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lines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gap_ratio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1.2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벌려 쓴 한글 조각(공/기/밥→공기밥)을 좌표로 병합. 가격(숫자)은 병합 장벽.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lines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b = 텍스트 박스 4점 좌표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xs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p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0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p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ys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p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1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p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boxed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append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{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x0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xs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x1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max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xs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         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y0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ys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y1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max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ys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h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max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ys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-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ys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}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1) 같은 '줄' = y구간이 실제로 '겹치는' 박스만 (큰 제목이 작은 메뉴 흡수 방지)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boxed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row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rows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overlap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y1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y1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-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max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y0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y0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overlap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&gt;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0.5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*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max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1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h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h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row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items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append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break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2) 상단 25% &amp; 높이 1.7배↑ = 가게 상호/간판 → 제외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row_h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&gt;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1.7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*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med_h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and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row_y0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-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y_top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&lt;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0.25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*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y_span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continue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3) 가로 간격 좁으면 병합 / 숫자(가격) 박스는 이름의 '종료 지점'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sorted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row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items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key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lambda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x0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_DIGIT_RE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search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가격 → 이름 확정(flush)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names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append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cur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cur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elif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x0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-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cur_x1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&lt;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gap_ratio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*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max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cur_h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h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1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cur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+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np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cur_x1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x1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가까운 조각 → 이어붙임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실제 구현 코드 (발췌)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핵심 코드 ② — 파이프라인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8A867E"/>
                </a:solidFill>
                <a:latin typeface="Calibri"/>
                <a:ea typeface="맑은 고딕"/>
              </a:rPr>
              <a:t>이미지 → OCR → 병합 → 필터 → LLM → JSON · menu_to_prompt.py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4663440"/>
          </a:xfrm>
          <a:prstGeom prst="roundRect">
            <a:avLst/>
          </a:prstGeom>
          <a:solidFill>
            <a:srgbClr val="1E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83664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4572E"/>
                </a:solidFill>
                <a:latin typeface="Consolas"/>
                <a:ea typeface="맑은 고딕"/>
              </a:rPr>
              <a:t>main() + looks_like_name()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10415015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scripts/menu_to_prompt.py — 이미지 → OCR → 병합 → 필터 → LLM → JSON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ocr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run_ocr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get_engine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args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lang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PP-OCRv5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v5 = 한국어 인식 우수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lines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run_ocr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run_image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ocr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args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image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[(text, score, box), ...]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raw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merge_line_fragments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lines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 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쪼개진 한글 조각 병합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names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seen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set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raw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sub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r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(?&lt;=[가-힣])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\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s+(?=[가-힣])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공 기 밥 → 공기밥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not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looks_like_name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lower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seen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continue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seen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add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lower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names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append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prompt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build_prompt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names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args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target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한식 해설 프롬프트 생성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data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parse_json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call_llm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prompt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args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llm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model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LLM 호출 → JSON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Path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data/explained.json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write_text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json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dumps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data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ensure_ascii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False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def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looks_like_name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 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메뉴명 후보 필터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한글/라틴 문자가 있고 2글자 이상 (소주·전복 등 2글자 허용)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return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len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&gt;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2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and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bool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re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search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r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[A-Za-zÀ-ÿ가-힣]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실제 구현 코드 (발췌)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핵심 코드 ③ — LLM 프롬프트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8A867E"/>
                </a:solidFill>
                <a:latin typeface="Calibri"/>
                <a:ea typeface="맑은 고딕"/>
              </a:rPr>
              <a:t>환각 억제 · 맵기 0~5 기준 · 알레르기 비단정 · menu_to_prompt.py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4663440"/>
          </a:xfrm>
          <a:prstGeom prst="roundRect">
            <a:avLst/>
          </a:prstGeom>
          <a:solidFill>
            <a:srgbClr val="1E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83664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4572E"/>
                </a:solidFill>
                <a:latin typeface="Consolas"/>
                <a:ea typeface="맑은 고딕"/>
              </a:rPr>
              <a:t>build_prompt()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10415015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def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build_prompt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names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target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English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return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f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"""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당신은 한식에 정통한 셰프이자, 한식을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'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전혀 모르는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'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 외국인에게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메뉴를 풀어 설명하는 해설가입니다. ...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[가장 중요한 정직성 규칙]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-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'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이 식당의 실제 레시피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'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는 모른다 → 이름으로 아는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'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일반 상식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'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만,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  typically / usually / often 로 헤징하고 단정하지 않는다.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- 이름에 없는 특정 재료(된장·고추장 등)를 임의로 넣지 않는다.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- 원문에 없는 요리·재료를 지어내지 않는다 (환각 금지).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- spicy_level 은 0~5 정수, 한식 기준: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    0=안매움(잡채)   2=약간(순두부 순한맛)   3=보통(김치찌개)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    4=매움(낙지볶음)   5=아주매움(불닭, 청양고추 많은 요리)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- 알레르기는 단정 금지 —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'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의심 재료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'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만: 간장·된장 = 대두(soy),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  참기름 = 참깨(sesame) ...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- notice 에는 항상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정확한 건 식당에 직접 문의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 안내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"""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실제 구현 코드 (발췌)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핵심 코드 ④ — 채점기(오류 진단)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8A867E"/>
                </a:solidFill>
                <a:latin typeface="Calibri"/>
                <a:ea typeface="맑은 고딕"/>
              </a:rPr>
              <a:t>일치/누락/오인식/합쳐짐/과분할 · compare_menu.py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4663440"/>
          </a:xfrm>
          <a:prstGeom prst="roundRect">
            <a:avLst/>
          </a:prstGeom>
          <a:solidFill>
            <a:srgbClr val="1E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83664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4572E"/>
                </a:solidFill>
                <a:latin typeface="Consolas"/>
                <a:ea typeface="맑은 고딕"/>
              </a:rPr>
              <a:t>compare()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10415015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compare_menu.py — 정답 vs 출력 대조(진단): 일치/누락/오인식/합쳐짐/과분할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def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compare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truth_list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out_list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각 정답에 대해 가장 비슷한 출력 찾기 (SequenceMatcher 유사도)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enumerate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truth_list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best_i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best_s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-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1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0.0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enumerate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out_list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similarity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NFC 정규화 + 가-힣 유지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&gt;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best_s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best_i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best_s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best_out_for_truth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append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best_i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best_s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한 출력에 정답이 2개↑ 몰리면 '합쳐짐'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merged_out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{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tis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claim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.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items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len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tis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&gt;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0C674"/>
                </a:solidFill>
                <a:latin typeface="Consolas"/>
                <a:ea typeface="맑은 고딕"/>
              </a:rPr>
              <a:t>2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}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상태 판정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&lt;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LOW_TH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 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status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누락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elif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merged_out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status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합쳐짐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elif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&gt;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MATCH_TH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and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not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diff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status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일치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else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: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                        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status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오인식/부분오류</a:t>
            </a:r>
            <a:r>
              <a:rPr sz="1150" b="0">
                <a:solidFill>
                  <a:srgbClr val="A5D6A7"/>
                </a:solidFill>
                <a:latin typeface="Consolas"/>
                <a:ea typeface="맑은 고딕"/>
              </a:rPr>
              <a:t>"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8B98A5"/>
                </a:solidFill>
                <a:latin typeface="Consolas"/>
                <a:ea typeface="맑은 고딕"/>
              </a:rPr>
              <a:t># 아무 정답과도 매칭 안 된 출력 = 추가/과분할(허위)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  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extra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=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[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for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,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79C0FF"/>
                </a:solidFill>
                <a:latin typeface="Consolas"/>
                <a:ea typeface="맑은 고딕"/>
              </a:rPr>
              <a:t>enumerate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(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out_list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)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FF7B72"/>
                </a:solidFill>
                <a:latin typeface="Consolas"/>
                <a:ea typeface="맑은 고딕"/>
              </a:rPr>
              <a:t>if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oi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not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in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 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matched</a:t>
            </a:r>
            <a:r>
              <a:rPr sz="1150" b="0">
                <a:solidFill>
                  <a:srgbClr val="E6EDF3"/>
                </a:solidFill>
                <a:latin typeface="Consolas"/>
                <a:ea typeface="맑은 고딕"/>
              </a:rPr>
              <a:t>]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모델 구현 · 개선 비교 (15)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개선 비교 — v3 → v5, 그리고 상용 CLOVA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5535" y="658368"/>
            <a:ext cx="3063240" cy="475488"/>
          </a:xfrm>
          <a:prstGeom prst="round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25535" y="658368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72E"/>
                </a:solidFill>
                <a:latin typeface="Calibri"/>
                <a:ea typeface="맑은 고딕"/>
              </a:rPr>
              <a:t>심사 · 개선 비교 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71600"/>
          <a:ext cx="77724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503920" y="1371600"/>
            <a:ext cx="3063240" cy="324612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572768"/>
            <a:ext cx="2651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300" b="1">
                <a:solidFill>
                  <a:srgbClr val="E4572E"/>
                </a:solidFill>
                <a:latin typeface="Calibri"/>
                <a:ea typeface="맑은 고딕"/>
              </a:rPr>
              <a:t>65 → 84%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  <a:ea typeface="맑은 고딕"/>
              </a:rPr>
              <a:t>v3 → v5 (+19%p)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Calibri"/>
                <a:ea typeface="맑은 고딕"/>
              </a:rPr>
              <a:t>CLOVA 87%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0">
                <a:solidFill>
                  <a:srgbClr val="C4C8CF"/>
                </a:solidFill>
                <a:latin typeface="Calibri"/>
                <a:ea typeface="맑은 고딕"/>
              </a:rPr>
              <a:t>상용과 단 3%p 차 — 오픈소스가 상용에 근접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E4572E"/>
                </a:solidFill>
                <a:latin typeface="Calibri"/>
                <a:ea typeface="맑은 고딕"/>
              </a:rPr>
              <a:t>지렛대 = 학습 아님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4C8CF"/>
                </a:solidFill>
                <a:latin typeface="Calibri"/>
                <a:ea typeface="맑은 고딕"/>
              </a:rPr>
              <a:t>①강한 사전모델 ②좌표 후처리 ③프롬프트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A2E35"/>
                </a:solidFill>
                <a:latin typeface="Calibri"/>
                <a:ea typeface="맑은 고딕"/>
              </a:rPr>
              <a:t>유형별 승패 — v5는 저해상·초고밀도·손글씨에서 결정적, 그러나 세로쓰기 등에선 회귀(정직한 한계)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2084831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2180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A2E35"/>
                </a:solidFill>
                <a:latin typeface="Calibri"/>
                <a:ea typeface="맑은 고딕"/>
              </a:rPr>
              <a:t>저해상 6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3B7A4B"/>
                </a:solidFill>
                <a:latin typeface="Calibri"/>
                <a:ea typeface="맑은 고딕"/>
              </a:rPr>
              <a:t>50→100%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9776" y="5212080"/>
            <a:ext cx="2084831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532180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A2E35"/>
                </a:solidFill>
                <a:latin typeface="Calibri"/>
                <a:ea typeface="맑은 고딕"/>
              </a:rPr>
              <a:t>초고밀도 5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3B7A4B"/>
                </a:solidFill>
                <a:latin typeface="Calibri"/>
                <a:ea typeface="맑은 고딕"/>
              </a:rPr>
              <a:t>27→68%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5212080"/>
            <a:ext cx="2084831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532180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A2E35"/>
                </a:solidFill>
                <a:latin typeface="Calibri"/>
                <a:ea typeface="맑은 고딕"/>
              </a:rPr>
              <a:t>손글씨 8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3B7A4B"/>
                </a:solidFill>
                <a:latin typeface="Calibri"/>
                <a:ea typeface="맑은 고딕"/>
              </a:rPr>
              <a:t>0→57%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2048" y="5212080"/>
            <a:ext cx="2084831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532180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A2E35"/>
                </a:solidFill>
                <a:latin typeface="Calibri"/>
                <a:ea typeface="맑은 고딕"/>
              </a:rPr>
              <a:t>세로쓰기 12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Calibri"/>
                <a:ea typeface="맑은 고딕"/>
              </a:rPr>
              <a:t>20→0 ▼%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73184" y="5212080"/>
            <a:ext cx="2084831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532180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A2E35"/>
                </a:solidFill>
                <a:latin typeface="Calibri"/>
                <a:ea typeface="맑은 고딕"/>
              </a:rPr>
              <a:t>v5 회귀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Calibri"/>
                <a:ea typeface="맑은 고딕"/>
              </a:rPr>
              <a:t>12·19·22%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모델 구현 · 오류 사례 (15)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오류 사례 분석 — 3단계 레이어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5535" y="658368"/>
            <a:ext cx="3063240" cy="475488"/>
          </a:xfrm>
          <a:prstGeom prst="round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25535" y="658368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72E"/>
                </a:solidFill>
                <a:latin typeface="Calibri"/>
                <a:ea typeface="맑은 고딕"/>
              </a:rPr>
              <a:t>심사 · 오류 사례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3611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276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4572E"/>
                </a:solidFill>
                <a:latin typeface="Calibri"/>
                <a:ea typeface="맑은 고딕"/>
              </a:rPr>
              <a:t>① 인식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488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A2E35"/>
                </a:solidFill>
                <a:latin typeface="Calibri"/>
                <a:ea typeface="맑은 고딕"/>
              </a:rPr>
              <a:t>저해상도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닭칼국수→뒤갈국주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3B7A4B"/>
                </a:solidFill>
                <a:latin typeface="Calibri"/>
                <a:ea typeface="맑은 고딕"/>
              </a:rPr>
              <a:t>✅ v5 교체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918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A2E35"/>
                </a:solidFill>
                <a:latin typeface="Calibri"/>
                <a:ea typeface="맑은 고딕"/>
              </a:rPr>
              <a:t>초고밀도·손글씨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7건 미복원 / 298500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C0392B"/>
                </a:solidFill>
                <a:latin typeface="Calibri"/>
                <a:ea typeface="맑은 고딕"/>
              </a:rPr>
              <a:t>❌ VLM 향후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611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276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4572E"/>
                </a:solidFill>
                <a:latin typeface="Calibri"/>
                <a:ea typeface="맑은 고딕"/>
              </a:rPr>
              <a:t>② 후처리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488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A2E35"/>
                </a:solidFill>
                <a:latin typeface="Calibri"/>
                <a:ea typeface="맑은 고딕"/>
              </a:rPr>
              <a:t>글자붙음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공/기/밥→공기밥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3B7A4B"/>
                </a:solidFill>
                <a:latin typeface="Calibri"/>
                <a:ea typeface="맑은 고딕"/>
              </a:rPr>
              <a:t>✅ 좌표 병합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2918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A2E35"/>
                </a:solidFill>
                <a:latin typeface="Calibri"/>
                <a:ea typeface="맑은 고딕"/>
              </a:rPr>
              <a:t>大/中·간판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순+대→순대 / 간판 제외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3B7A4B"/>
                </a:solidFill>
                <a:latin typeface="Calibri"/>
                <a:ea typeface="맑은 고딕"/>
              </a:rPr>
              <a:t>✅ 규칙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463040"/>
            <a:ext cx="3611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276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4572E"/>
                </a:solidFill>
                <a:latin typeface="Calibri"/>
                <a:ea typeface="맑은 고딕"/>
              </a:rPr>
              <a:t>③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488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A2E35"/>
                </a:solidFill>
                <a:latin typeface="Calibri"/>
                <a:ea typeface="맑은 고딕"/>
              </a:rPr>
              <a:t>환각(없는 재료)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된장 단정→헤징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3B7A4B"/>
                </a:solidFill>
                <a:latin typeface="Calibri"/>
                <a:ea typeface="맑은 고딕"/>
              </a:rPr>
              <a:t>✅ 프롬프트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918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A2E35"/>
                </a:solidFill>
                <a:latin typeface="Calibri"/>
                <a:ea typeface="맑은 고딕"/>
              </a:rPr>
              <a:t>세로 섹션헤더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8A867E"/>
                </a:solidFill>
                <a:latin typeface="Calibri"/>
                <a:ea typeface="맑은 고딕"/>
              </a:rPr>
              <a:t>곁한우육회김밥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B07A1E"/>
                </a:solidFill>
                <a:latin typeface="Calibri"/>
                <a:ea typeface="맑은 고딕"/>
              </a:rPr>
              <a:t>🟡 강모델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56048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E4572E"/>
                </a:solidFill>
                <a:latin typeface="Calibri"/>
                <a:ea typeface="맑은 고딕"/>
              </a:rPr>
              <a:t>정직한 발견 — 개선 모델도 만능은 아니다 + 구조적 한계 (상용으로 확증)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맑은 고딕"/>
              </a:rPr>
              <a:t>v5 회귀: 12번(세로쓰기) 20→0% · 19번 92→77% · 22번 67→33%.   세로쓰기 12번은 상용 CLOVA도 0% → 남은 병목은 '모델 성능'이 아니라 '레이아웃 구조'.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모델 구현 · 결과 정리 (10)  · 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3272E"/>
                </a:solidFill>
                <a:latin typeface="Calibri"/>
                <a:ea typeface="맑은 고딕"/>
              </a:rPr>
              <a:t>결과 정리 &amp; 시연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5535" y="658368"/>
            <a:ext cx="3063240" cy="475488"/>
          </a:xfrm>
          <a:prstGeom prst="round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25535" y="658368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3272E"/>
                </a:solidFill>
                <a:latin typeface="Calibri"/>
                <a:ea typeface="맑은 고딕"/>
              </a:rPr>
              <a:t>심사 · 결과 정리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212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3272E"/>
                </a:solidFill>
                <a:latin typeface="Calibri"/>
                <a:ea typeface="맑은 고딕"/>
              </a:rPr>
              <a:t>해석 파이프라인 채점 궤적 (4.jpg, 정답 8개)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A2E35"/>
                </a:solidFill>
                <a:latin typeface="Calibri"/>
                <a:ea typeface="맑은 고딕"/>
              </a:rPr>
              <a:t>① v3 베이스라인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0312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4572E"/>
                </a:solidFill>
                <a:latin typeface="Calibri"/>
                <a:ea typeface="맑은 고딕"/>
              </a:rPr>
              <a:t>3/8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A867E"/>
                </a:solidFill>
                <a:latin typeface="Calibri"/>
                <a:ea typeface="맑은 고딕"/>
              </a:rPr>
              <a:t>누락 4·간판 오생성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7860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A2E35"/>
                </a:solidFill>
                <a:latin typeface="Calibri"/>
                <a:ea typeface="맑은 고딕"/>
              </a:rPr>
              <a:t>② + 좌표 병합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78608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4572E"/>
                </a:solidFill>
                <a:latin typeface="Calibri"/>
                <a:ea typeface="맑은 고딕"/>
              </a:rPr>
              <a:t>6/8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78608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A867E"/>
                </a:solidFill>
                <a:latin typeface="Calibri"/>
                <a:ea typeface="맑은 고딕"/>
              </a:rPr>
              <a:t>사리·공기밥 복원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54096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A2E35"/>
                </a:solidFill>
                <a:latin typeface="Calibri"/>
                <a:ea typeface="맑은 고딕"/>
              </a:rPr>
              <a:t>③ + v5·간판 필터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05409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4572E"/>
                </a:solidFill>
                <a:latin typeface="Calibri"/>
                <a:ea typeface="맑은 고딕"/>
              </a:rPr>
              <a:t>7/8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54096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A867E"/>
                </a:solidFill>
                <a:latin typeface="Calibri"/>
                <a:ea typeface="맑은 고딕"/>
              </a:rPr>
              <a:t>볶음밥 복원·누락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5212080" cy="228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50208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4572E"/>
                </a:solidFill>
                <a:latin typeface="Calibri"/>
                <a:ea typeface="맑은 고딕"/>
              </a:rPr>
              <a:t>실제 해석 출력 (explained.json)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2A2E35"/>
                </a:solidFill>
                <a:latin typeface="Calibri"/>
                <a:ea typeface="맑은 고딕"/>
              </a:rPr>
              <a:t>간장찜닭  ·  Soy Sauce Braised Chicken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2A2E35"/>
                </a:solidFill>
                <a:latin typeface="Calibri"/>
                <a:ea typeface="맑은 고딕"/>
              </a:rPr>
              <a:t>재료: Chicken thigh, Egg garnish, Soy sauce, Vegetables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A2E35"/>
                </a:solidFill>
                <a:latin typeface="Calibri"/>
                <a:ea typeface="맑은 고딕"/>
              </a:rPr>
              <a:t>맛: savory &amp; slightly sweet   ·   맵기 0/5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E4572E"/>
                </a:solidFill>
                <a:latin typeface="Calibri"/>
                <a:ea typeface="맑은 고딕"/>
              </a:rPr>
              <a:t>알레르기 주의: soy, egg   ·   "정확한 건 식당에 문의"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463040"/>
            <a:ext cx="5532120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468880"/>
            <a:ext cx="5532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3272E"/>
                </a:solidFill>
                <a:latin typeface="Calibri"/>
                <a:ea typeface="맑은 고딕"/>
              </a:rPr>
              <a:t>🖥  앱 화면 캡처 자리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200400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867E"/>
                </a:solidFill>
                <a:latin typeface="Calibri"/>
                <a:ea typeface="맑은 고딕"/>
              </a:rPr>
              <a:t>streamlit run app.py  → 캡처 후 삽입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526280"/>
            <a:ext cx="5532120" cy="155448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60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E4572E"/>
                </a:solidFill>
                <a:latin typeface="Calibri"/>
                <a:ea typeface="맑은 고딕"/>
              </a:rPr>
              <a:t>🎬  시연 영상 (여기 삽입)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맑은 고딕"/>
              </a:rPr>
              <a:t>이미지 업로드 → OCR 박스 시각화 → 요리별 다국어 카드(소개·재료·맵기·알레르기). 다국어 라벨·캐싱·모델 자동 대체.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발표 · 한계/개선 (10)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맑은 고딕"/>
              </a:rPr>
              <a:t>한계 &amp; 개선 방향 — 그리고 마무리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25535" y="658368"/>
            <a:ext cx="3063240" cy="475488"/>
          </a:xfrm>
          <a:prstGeom prst="roundRect">
            <a:avLst/>
          </a:prstGeom>
          <a:solidFill>
            <a:srgbClr val="33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25535" y="658368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맑은 고딕"/>
              </a:rPr>
              <a:t>심사 · 발표 한계·개선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349240" cy="3429000"/>
          </a:xfrm>
          <a:prstGeom prst="rect">
            <a:avLst/>
          </a:prstGeom>
          <a:solidFill>
            <a:srgbClr val="2C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E4572E"/>
                </a:solidFill>
                <a:latin typeface="Calibri"/>
                <a:ea typeface="맑은 고딕"/>
              </a:rPr>
              <a:t>현재 한계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Calibri"/>
                <a:ea typeface="맑은 고딕"/>
              </a:rPr>
              <a:t>· 초고밀도 소자체 — 잡지식 다단 + 작은 글씨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Calibri"/>
                <a:ea typeface="맑은 고딕"/>
              </a:rPr>
              <a:t>· 손글씨 스티커 — 인쇄체 학습 모델의 도메인 한계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Calibri"/>
                <a:ea typeface="맑은 고딕"/>
              </a:rPr>
              <a:t>· 세로쓰기 다단 — 기하학만으론 라벨/그리드 구분 불가 (상용 CLOVA도 0%)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alibri"/>
                <a:ea typeface="맑은 고딕"/>
              </a:rPr>
              <a:t>· 파인튜닝: 25장으론 과적합, 사전학습 v5를 못 이김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349240" cy="3429000"/>
          </a:xfrm>
          <a:prstGeom prst="rect">
            <a:avLst/>
          </a:prstGeom>
          <a:solidFill>
            <a:srgbClr val="2C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64208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E4572E"/>
                </a:solidFill>
                <a:latin typeface="Calibri"/>
                <a:ea typeface="맑은 고딕"/>
              </a:rPr>
              <a:t>개선 방향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  <a:ea typeface="맑은 고딕"/>
              </a:rPr>
              <a:t>🔹 멀티모달 비전 모델(VLM) — 이미지 직접 해석으로 손글씨·세로쓰기·복잡 레이아웃 대응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  <a:ea typeface="맑은 고딕"/>
              </a:rPr>
              <a:t>🔹 일반 한식 사전(gazetteer) 후보정 — 흔한 오타 결정론적 교정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alibri"/>
                <a:ea typeface="맑은 고딕"/>
              </a:rPr>
              <a:t>🔹 CLOVA 비교 확대 + 데이터·촬영 가이드로 벤치마크 견고화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10881360" cy="11430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85232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맑은 고딕"/>
              </a:rPr>
              <a:t>핵심 요약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맑은 고딕"/>
              </a:rPr>
              <a:t>자체 25장·246개 + 직접 작성 정답  ·  복원율 v3 65% → v5 84%(≈상용 CLOVA 87%)  ·  OCR+LLM 다국어 웹 데모 → 방한 외국인 식사 경험 개선(K-관광)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4572E"/>
                </a:solidFill>
                <a:latin typeface="Calibri"/>
                <a:ea typeface="맑은 고딕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046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맑은 고딕"/>
              </a:rPr>
              <a:t>팀 소개 — 메뉴아이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520440" cy="3566160"/>
          </a:xfrm>
          <a:prstGeom prst="roundRect">
            <a:avLst/>
          </a:prstGeom>
          <a:solidFill>
            <a:srgbClr val="2C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947672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맑은 고딕"/>
              </a:rPr>
              <a:t>정현우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19" y="2679191"/>
            <a:ext cx="896112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679191"/>
            <a:ext cx="8961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맑은 고딕"/>
              </a:rPr>
              <a:t>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3375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· CV / OCR · 좌표 후처리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867911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· 모델 개선 v3→v5 · CLOVA 벤치마크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4398264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· 프로젝트 총괄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520440" cy="3566160"/>
          </a:xfrm>
          <a:prstGeom prst="roundRect">
            <a:avLst/>
          </a:prstGeom>
          <a:solidFill>
            <a:srgbClr val="2C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947672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맑은 고딕"/>
              </a:rPr>
              <a:t>이응균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679191"/>
            <a:ext cx="896112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679191"/>
            <a:ext cx="8961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맑은 고딕"/>
              </a:rPr>
              <a:t>발표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3375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· LLM · 프롬프트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867911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· 해석 파이프라인 (build_prompt)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98264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· 발표 담당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00200"/>
            <a:ext cx="3520440" cy="3566160"/>
          </a:xfrm>
          <a:prstGeom prst="roundRect">
            <a:avLst/>
          </a:prstGeom>
          <a:solidFill>
            <a:srgbClr val="2C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947672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맑은 고딕"/>
              </a:rPr>
              <a:t>정아인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3375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· 데이터 · 정답 라벨링 (246개)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67911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· 채점(compare_menu) · 웹앱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398264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C4C8CF"/>
                </a:solidFill>
                <a:latin typeface="Calibri"/>
                <a:ea typeface="맑은 고딕"/>
              </a:rPr>
              <a:t>· 문서 · 정의서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577840"/>
            <a:ext cx="10927080" cy="86868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77840"/>
            <a:ext cx="10927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맑은 고딕"/>
              </a:rPr>
              <a:t>감사합니다   ·   메뉴아이 (정현우 · 이응균 · 정아인)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